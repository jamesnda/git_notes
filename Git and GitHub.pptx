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Barlow ExtraLight"/>
      <p:regular r:id="rId35"/>
      <p:bold r:id="rId36"/>
      <p:italic r:id="rId37"/>
      <p:boldItalic r:id="rId38"/>
    </p:embeddedFont>
    <p:embeddedFont>
      <p:font typeface="Hepta Slab Medium"/>
      <p:regular r:id="rId39"/>
      <p:bold r:id="rId40"/>
    </p:embeddedFont>
    <p:embeddedFont>
      <p:font typeface="Hepta Slab Light"/>
      <p:regular r:id="rId41"/>
      <p:bold r:id="rId42"/>
    </p:embeddedFont>
    <p:embeddedFont>
      <p:font typeface="Nunito"/>
      <p:regular r:id="rId43"/>
      <p:bold r:id="rId44"/>
      <p:italic r:id="rId45"/>
      <p:boldItalic r:id="rId46"/>
    </p:embeddedFont>
    <p:embeddedFont>
      <p:font typeface="Hepta Slab"/>
      <p:regular r:id="rId47"/>
      <p:bold r:id="rId48"/>
    </p:embeddedFont>
    <p:embeddedFont>
      <p:font typeface="Barlow Medium"/>
      <p:regular r:id="rId49"/>
      <p:bold r:id="rId50"/>
      <p:italic r:id="rId51"/>
      <p:boldItalic r:id="rId52"/>
    </p:embeddedFont>
    <p:embeddedFont>
      <p:font typeface="Roboto Mono"/>
      <p:regular r:id="rId53"/>
      <p:bold r:id="rId54"/>
      <p:italic r:id="rId55"/>
      <p:boldItalic r:id="rId56"/>
    </p:embeddedFont>
    <p:embeddedFont>
      <p:font typeface="Barlow Light"/>
      <p:regular r:id="rId57"/>
      <p:bold r:id="rId58"/>
      <p:italic r:id="rId59"/>
      <p:boldItalic r:id="rId60"/>
    </p:embeddedFont>
    <p:embeddedFont>
      <p:font typeface="Barlow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ptaSlabMedium-bold.fntdata"/><Relationship Id="rId42" Type="http://schemas.openxmlformats.org/officeDocument/2006/relationships/font" Target="fonts/HeptaSlabLight-bold.fntdata"/><Relationship Id="rId41" Type="http://schemas.openxmlformats.org/officeDocument/2006/relationships/font" Target="fonts/HeptaSlabLight-regular.fntdata"/><Relationship Id="rId44" Type="http://schemas.openxmlformats.org/officeDocument/2006/relationships/font" Target="fonts/Nunito-bold.fntdata"/><Relationship Id="rId43" Type="http://schemas.openxmlformats.org/officeDocument/2006/relationships/font" Target="fonts/Nunito-regular.fntdata"/><Relationship Id="rId46" Type="http://schemas.openxmlformats.org/officeDocument/2006/relationships/font" Target="fonts/Nunito-boldItalic.fntdata"/><Relationship Id="rId45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ptaSlab-bold.fntdata"/><Relationship Id="rId47" Type="http://schemas.openxmlformats.org/officeDocument/2006/relationships/font" Target="fonts/HeptaSlab-regular.fntdata"/><Relationship Id="rId49" Type="http://schemas.openxmlformats.org/officeDocument/2006/relationships/font" Target="fonts/Barlow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BarlowExtraLight-regular.fntdata"/><Relationship Id="rId34" Type="http://schemas.openxmlformats.org/officeDocument/2006/relationships/slide" Target="slides/slide29.xml"/><Relationship Id="rId37" Type="http://schemas.openxmlformats.org/officeDocument/2006/relationships/font" Target="fonts/BarlowExtraLight-italic.fntdata"/><Relationship Id="rId36" Type="http://schemas.openxmlformats.org/officeDocument/2006/relationships/font" Target="fonts/BarlowExtraLight-bold.fntdata"/><Relationship Id="rId39" Type="http://schemas.openxmlformats.org/officeDocument/2006/relationships/font" Target="fonts/HeptaSlabMedium-regular.fntdata"/><Relationship Id="rId38" Type="http://schemas.openxmlformats.org/officeDocument/2006/relationships/font" Target="fonts/BarlowExtraLight-boldItalic.fntdata"/><Relationship Id="rId62" Type="http://schemas.openxmlformats.org/officeDocument/2006/relationships/font" Target="fonts/Barlow-bold.fntdata"/><Relationship Id="rId61" Type="http://schemas.openxmlformats.org/officeDocument/2006/relationships/font" Target="fonts/Barlow-regular.fntdata"/><Relationship Id="rId20" Type="http://schemas.openxmlformats.org/officeDocument/2006/relationships/slide" Target="slides/slide15.xml"/><Relationship Id="rId64" Type="http://schemas.openxmlformats.org/officeDocument/2006/relationships/font" Target="fonts/Barlow-boldItalic.fntdata"/><Relationship Id="rId63" Type="http://schemas.openxmlformats.org/officeDocument/2006/relationships/font" Target="fonts/Barlow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BarlowLigh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BarlowMedium-italic.fntdata"/><Relationship Id="rId50" Type="http://schemas.openxmlformats.org/officeDocument/2006/relationships/font" Target="fonts/BarlowMedium-bold.fntdata"/><Relationship Id="rId53" Type="http://schemas.openxmlformats.org/officeDocument/2006/relationships/font" Target="fonts/RobotoMono-regular.fntdata"/><Relationship Id="rId52" Type="http://schemas.openxmlformats.org/officeDocument/2006/relationships/font" Target="fonts/BarlowMedium-boldItalic.fntdata"/><Relationship Id="rId11" Type="http://schemas.openxmlformats.org/officeDocument/2006/relationships/slide" Target="slides/slide6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5.xml"/><Relationship Id="rId54" Type="http://schemas.openxmlformats.org/officeDocument/2006/relationships/font" Target="fonts/RobotoMono-bold.fntdata"/><Relationship Id="rId13" Type="http://schemas.openxmlformats.org/officeDocument/2006/relationships/slide" Target="slides/slide8.xml"/><Relationship Id="rId57" Type="http://schemas.openxmlformats.org/officeDocument/2006/relationships/font" Target="fonts/BarlowLight-regular.fntdata"/><Relationship Id="rId12" Type="http://schemas.openxmlformats.org/officeDocument/2006/relationships/slide" Target="slides/slide7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59" Type="http://schemas.openxmlformats.org/officeDocument/2006/relationships/font" Target="fonts/BarlowLight-italic.fntdata"/><Relationship Id="rId14" Type="http://schemas.openxmlformats.org/officeDocument/2006/relationships/slide" Target="slides/slide9.xml"/><Relationship Id="rId58" Type="http://schemas.openxmlformats.org/officeDocument/2006/relationships/font" Target="fonts/Barlow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95ff54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95ff54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95ff542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95ff542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95ff5427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95ff5427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95ff54275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a95ff54275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a95ff54275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a95ff54275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95ff54275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95ff54275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95ff54275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95ff54275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95ff54275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95ff54275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a95ff54275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a95ff54275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95ff54275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a95ff54275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95ff54275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95ff54275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95ff54275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a95ff54275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95ff54275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95ff54275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a95ff54275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a95ff54275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95ff54275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95ff54275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95ff54275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95ff54275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95ff54275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95ff54275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95ff54275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95ff54275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95ff54275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95ff54275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95ff54275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95ff54275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95ff54275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95ff54275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95ff54275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95ff54275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95ff54275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a95ff54275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95ff54275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95ff54275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95ff54275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a95ff54275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95ff54275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95ff54275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95ff54275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a95ff54275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95ff54275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95ff54275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95ff5427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95ff5427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5">
    <p:bg>
      <p:bgPr>
        <a:solidFill>
          <a:schemeClr val="accent6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7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7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p47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328" name="Google Shape;328;p47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7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47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47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332" name="Google Shape;332;p47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47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47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47"/>
          <p:cNvGrpSpPr/>
          <p:nvPr/>
        </p:nvGrpSpPr>
        <p:grpSpPr>
          <a:xfrm>
            <a:off x="7057470" y="5088"/>
            <a:ext cx="1851282" cy="752108"/>
            <a:chOff x="6917201" y="0"/>
            <a:chExt cx="2227776" cy="863400"/>
          </a:xfrm>
        </p:grpSpPr>
        <p:sp>
          <p:nvSpPr>
            <p:cNvPr id="336" name="Google Shape;336;p4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9" name="Google Shape;339;p47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340" name="Google Shape;340;p4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47"/>
          <p:cNvGrpSpPr/>
          <p:nvPr/>
        </p:nvGrpSpPr>
        <p:grpSpPr>
          <a:xfrm>
            <a:off x="199151" y="4055652"/>
            <a:ext cx="2795413" cy="1083308"/>
            <a:chOff x="6917201" y="0"/>
            <a:chExt cx="2227776" cy="863400"/>
          </a:xfrm>
        </p:grpSpPr>
        <p:sp>
          <p:nvSpPr>
            <p:cNvPr id="344" name="Google Shape;344;p47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7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7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47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48" name="Google Shape;348;p47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2">
    <p:bg>
      <p:bgPr>
        <a:solidFill>
          <a:schemeClr val="dk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5" name="Google Shape;355;p4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56" name="Google Shape;356;p4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bg>
      <p:bgPr>
        <a:solidFill>
          <a:schemeClr val="accent3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49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360" name="Google Shape;360;p4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49"/>
          <p:cNvGrpSpPr/>
          <p:nvPr/>
        </p:nvGrpSpPr>
        <p:grpSpPr>
          <a:xfrm>
            <a:off x="199151" y="2"/>
            <a:ext cx="2795413" cy="1083308"/>
            <a:chOff x="6917201" y="0"/>
            <a:chExt cx="2227776" cy="863400"/>
          </a:xfrm>
        </p:grpSpPr>
        <p:sp>
          <p:nvSpPr>
            <p:cNvPr id="364" name="Google Shape;364;p4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4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7" name="Google Shape;367;p49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8" name="Google Shape;368;p4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2">
    <p:bg>
      <p:bgPr>
        <a:solidFill>
          <a:schemeClr val="accen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50"/>
          <p:cNvGrpSpPr/>
          <p:nvPr/>
        </p:nvGrpSpPr>
        <p:grpSpPr>
          <a:xfrm>
            <a:off x="255991" y="-119"/>
            <a:ext cx="2251347" cy="1043408"/>
            <a:chOff x="3961956" y="4383950"/>
            <a:chExt cx="1160548" cy="548700"/>
          </a:xfrm>
        </p:grpSpPr>
        <p:sp>
          <p:nvSpPr>
            <p:cNvPr id="373" name="Google Shape;373;p5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5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5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p5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p50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378" name="Google Shape;378;p5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5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5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50"/>
          <p:cNvGrpSpPr/>
          <p:nvPr/>
        </p:nvGrpSpPr>
        <p:grpSpPr>
          <a:xfrm>
            <a:off x="5886355" y="1243"/>
            <a:ext cx="3257454" cy="1261514"/>
            <a:chOff x="6917201" y="0"/>
            <a:chExt cx="2227776" cy="863400"/>
          </a:xfrm>
        </p:grpSpPr>
        <p:sp>
          <p:nvSpPr>
            <p:cNvPr id="382" name="Google Shape;382;p5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5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5" name="Google Shape;385;p5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86" name="Google Shape;386;p5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Git and GitHub</a:t>
            </a:r>
            <a:endParaRPr/>
          </a:p>
        </p:txBody>
      </p:sp>
      <p:sp>
        <p:nvSpPr>
          <p:cNvPr id="392" name="Google Shape;392;p51"/>
          <p:cNvSpPr txBox="1"/>
          <p:nvPr>
            <p:ph idx="1" type="body"/>
          </p:nvPr>
        </p:nvSpPr>
        <p:spPr>
          <a:xfrm>
            <a:off x="4046100" y="4236450"/>
            <a:ext cx="10518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 Technology</a:t>
            </a:r>
            <a:endParaRPr/>
          </a:p>
        </p:txBody>
      </p:sp>
      <p:sp>
        <p:nvSpPr>
          <p:cNvPr id="393" name="Google Shape;393;p51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2025-2026 PROMOTION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399" name="Google Shape;399;p52"/>
          <p:cNvSpPr txBox="1"/>
          <p:nvPr>
            <p:ph idx="2" type="title"/>
          </p:nvPr>
        </p:nvSpPr>
        <p:spPr>
          <a:xfrm>
            <a:off x="2698975" y="1194450"/>
            <a:ext cx="4132200" cy="20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3"/>
          <p:cNvSpPr txBox="1"/>
          <p:nvPr>
            <p:ph type="ctrTitle"/>
          </p:nvPr>
        </p:nvSpPr>
        <p:spPr>
          <a:xfrm>
            <a:off x="1734450" y="667100"/>
            <a:ext cx="5794800" cy="808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Git’s meaning</a:t>
            </a:r>
            <a:endParaRPr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05" name="Google Shape;405;p53"/>
          <p:cNvSpPr txBox="1"/>
          <p:nvPr>
            <p:ph idx="1" type="subTitle"/>
          </p:nvPr>
        </p:nvSpPr>
        <p:spPr>
          <a:xfrm>
            <a:off x="1734450" y="1872950"/>
            <a:ext cx="5794800" cy="23619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is a popular version control system.</a:t>
            </a:r>
            <a:endParaRPr sz="2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was created by Linus Torvalds in 2005, and has been maintained by Junio Hamano since then.</a:t>
            </a:r>
            <a:endParaRPr sz="2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2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is used for:</a:t>
            </a:r>
            <a:endParaRPr sz="23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>
            <p:ph idx="1" type="subTitle"/>
          </p:nvPr>
        </p:nvSpPr>
        <p:spPr>
          <a:xfrm>
            <a:off x="1217175" y="1161400"/>
            <a:ext cx="7156800" cy="32115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" sz="4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Tracking code changes</a:t>
            </a:r>
            <a:endParaRPr sz="4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" sz="4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Tracking who made changes</a:t>
            </a:r>
            <a:endParaRPr sz="4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000"/>
              <a:buFont typeface="Arial"/>
              <a:buChar char="●"/>
            </a:pPr>
            <a:r>
              <a:rPr lang="en" sz="4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Coding collaboration</a:t>
            </a:r>
            <a:endParaRPr sz="4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Key Git Concepts</a:t>
            </a:r>
            <a:endParaRPr b="1" sz="24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16" name="Google Shape;416;p55"/>
          <p:cNvSpPr txBox="1"/>
          <p:nvPr>
            <p:ph idx="1" type="subTitle"/>
          </p:nvPr>
        </p:nvSpPr>
        <p:spPr>
          <a:xfrm>
            <a:off x="1217175" y="1080900"/>
            <a:ext cx="7156800" cy="33057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Repository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A folder where Git tracks your project and its history.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Clone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Make a copy of a remote repository on your computer.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Stage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Tell Git which changes you want to save next.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Save a snapshot of your staged changes.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Branch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Work on different versions or features at the same time.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Merge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Combine changes from different branches.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Pull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Get the latest changes from a remote repository.</a:t>
            </a:r>
            <a:endParaRPr sz="1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Push</a:t>
            </a:r>
            <a:r>
              <a:rPr lang="en" sz="1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Send your changes to a remote repository.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6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Working with Git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2" name="Google Shape;422;p56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Initialize Git on a folder, making it a Repository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now creates a hidden folder to keep track of changes in that folder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When a file is changed, added or deleted, it is considered modified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You select the modified files you want to Stage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Staged files are Committed, which prompts Git to store a permanent snapshot of the files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allows you to see the full history of every commit.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You can revert back to any previous commit.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" sz="1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does not store a separate copy of every file in every commit, but keeps track of changes made in each commit!</a:t>
            </a:r>
            <a:endParaRPr sz="1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7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Why Git?</a:t>
            </a:r>
            <a:endParaRPr sz="3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28" name="Google Shape;428;p57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Over 70% of developers use Git!</a:t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Developers can work together from anywhere in the world.</a:t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Developers can see the full history of the project.</a:t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Developers can revert to earlier versions of a project.</a:t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8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434" name="Google Shape;434;p58"/>
          <p:cNvSpPr txBox="1"/>
          <p:nvPr>
            <p:ph idx="2" type="title"/>
          </p:nvPr>
        </p:nvSpPr>
        <p:spPr>
          <a:xfrm>
            <a:off x="600250" y="1194450"/>
            <a:ext cx="8079600" cy="20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9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3400">
                <a:solidFill>
                  <a:schemeClr val="l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is GitHub?</a:t>
            </a:r>
            <a:endParaRPr b="1" sz="3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0" name="Google Shape;440;p59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 is not the same as GitHub.</a:t>
            </a:r>
            <a:endParaRPr sz="3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GitHub makes tools that use Git.</a:t>
            </a:r>
            <a:endParaRPr sz="3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●"/>
            </a:pPr>
            <a:r>
              <a:rPr lang="e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GitHub is the largest host of source code in the world, and has been owned by Microsoft since 2018.</a:t>
            </a:r>
            <a:endParaRPr sz="35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0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INITIALIZATION OF A GitRepo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6" name="Google Shape;446;p60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endParaRPr b="1"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1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CONFIGURATION OF A GitRepo</a:t>
            </a:r>
            <a:endParaRPr sz="260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1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15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config--global user.email "my email"</a:t>
            </a:r>
            <a:endParaRPr b="1"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STAGING MULTIPLE FILE (S)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58" name="Google Shape;458;p62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300"/>
              <a:buFont typeface="Courier New"/>
              <a:buChar char="●"/>
            </a:pP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--all</a:t>
            </a:r>
            <a:endParaRPr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Courier New"/>
              <a:buChar char="●"/>
            </a:pP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-A</a:t>
            </a:r>
            <a:endParaRPr sz="3300">
              <a:solidFill>
                <a:srgbClr val="C92C2C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Font typeface="Courier New"/>
              <a:buChar char="●"/>
            </a:pP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.</a:t>
            </a:r>
            <a:endParaRPr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3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</a:t>
            </a: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STAGING FILE (S)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4" name="Google Shape;464;p63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it</a:t>
            </a: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restore </a:t>
            </a:r>
            <a:r>
              <a:rPr b="1" lang="en" sz="2900">
                <a:solidFill>
                  <a:srgbClr val="FF9900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--</a:t>
            </a: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staged filename</a:t>
            </a:r>
            <a:endParaRPr b="1" sz="2900">
              <a:solidFill>
                <a:srgbClr val="2F9C0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4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CHECKING GIT STATUS</a:t>
            </a:r>
            <a:endParaRPr sz="3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0" name="Google Shape;470;p64"/>
          <p:cNvSpPr txBox="1"/>
          <p:nvPr>
            <p:ph idx="1" type="subTitle"/>
          </p:nvPr>
        </p:nvSpPr>
        <p:spPr>
          <a:xfrm>
            <a:off x="1339175" y="1048275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4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461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5000"/>
              <a:buFont typeface="Courier New"/>
              <a:buChar char="●"/>
            </a:pPr>
            <a:r>
              <a:rPr lang="en" sz="50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50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50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status</a:t>
            </a:r>
            <a:endParaRPr sz="4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5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COMMITTING</a:t>
            </a: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MULTIPLE FILE (S)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76" name="Google Shape;476;p65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3400"/>
              <a:buFont typeface="Courier New"/>
              <a:buChar char="●"/>
            </a:pPr>
            <a:r>
              <a:rPr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lang="en" sz="34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commit </a:t>
            </a:r>
            <a:r>
              <a:rPr lang="en" sz="34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-m “ft-feature</a:t>
            </a:r>
            <a:endParaRPr sz="3400">
              <a:solidFill>
                <a:srgbClr val="C92C2C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2C2C"/>
              </a:buClr>
              <a:buSzPts val="3400"/>
              <a:buFont typeface="Courier New"/>
              <a:buChar char="●"/>
            </a:pPr>
            <a:r>
              <a:rPr lang="en" sz="34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Actions done”</a:t>
            </a:r>
            <a:endParaRPr sz="34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6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CHECKING GIT COMMITS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2" name="Google Shape;482;p66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34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endParaRPr b="1" sz="34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7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CANCELLING GIT COMMITS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88" name="Google Shape;488;p67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F9C0A"/>
              </a:buClr>
              <a:buSzPts val="3400"/>
              <a:buFont typeface="Courier New"/>
              <a:buChar char="●"/>
            </a:pP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reset --soft HEAD~1</a:t>
            </a:r>
            <a:endParaRPr b="1"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9C0A"/>
              </a:buClr>
              <a:buSzPts val="3400"/>
              <a:buFont typeface="Courier New"/>
              <a:buChar char="●"/>
            </a:pP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reset --mixed HEAD~1</a:t>
            </a:r>
            <a:endParaRPr b="1"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9C0A"/>
              </a:buClr>
              <a:buSzPts val="3400"/>
              <a:buFont typeface="Courier New"/>
              <a:buChar char="●"/>
            </a:pP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reset --hard HEAD~1</a:t>
            </a:r>
            <a:endParaRPr b="1"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9C0A"/>
              </a:buClr>
              <a:buSzPts val="3400"/>
              <a:buFont typeface="Courier New"/>
              <a:buChar char="●"/>
            </a:pPr>
            <a:r>
              <a:rPr b="1" lang="en" sz="34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revert &lt;commit-hash&gt;</a:t>
            </a:r>
            <a:endParaRPr b="1" sz="34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8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2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PUSH</a:t>
            </a:r>
            <a:r>
              <a:rPr lang="en" sz="32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ING TO GitHub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94" name="Google Shape;494;p68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29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push origin </a:t>
            </a:r>
            <a:r>
              <a:rPr b="1" lang="en" sz="29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-u </a:t>
            </a:r>
            <a:r>
              <a:rPr b="1" lang="en" sz="29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branch</a:t>
            </a:r>
            <a:r>
              <a:rPr b="1" lang="en" sz="29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1" sz="2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9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32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FORCED </a:t>
            </a:r>
            <a:r>
              <a:rPr lang="en" sz="32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PUSHING TO GitHub</a:t>
            </a:r>
            <a:endParaRPr sz="32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0" name="Google Shape;500;p69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35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 --force </a:t>
            </a:r>
            <a:r>
              <a:rPr b="1" lang="en" sz="3500">
                <a:solidFill>
                  <a:srgbClr val="FF9900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-u</a:t>
            </a:r>
            <a:r>
              <a:rPr b="1" lang="en" sz="35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origin main</a:t>
            </a:r>
            <a:endParaRPr b="1"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0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CREATING A GIT BRANCH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06" name="Google Shape;506;p70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b="1"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-b </a:t>
            </a: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branchName</a:t>
            </a:r>
            <a:endParaRPr b="1"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1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6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CHECKING CURRENT GIT BRANCH</a:t>
            </a:r>
            <a:endParaRPr sz="26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2" name="Google Shape;512;p71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branch</a:t>
            </a:r>
            <a:endParaRPr b="1"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2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5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CHECKING ALL EXISTING GIT BRANCHES</a:t>
            </a:r>
            <a:endParaRPr sz="25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18" name="Google Shape;518;p72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2F9C0A"/>
              </a:solidFill>
              <a:highlight>
                <a:srgbClr val="FDFDFD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git</a:t>
            </a:r>
            <a:r>
              <a:rPr b="1" lang="en" sz="3300">
                <a:solidFill>
                  <a:srgbClr val="C92C2C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3300">
                <a:solidFill>
                  <a:srgbClr val="2F9C0A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branch -A</a:t>
            </a:r>
            <a:endParaRPr b="1" sz="33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3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24" name="Google Shape;524;p73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3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Step 1: Open Your Repository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Go to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github.com → Your account → Your repository</a:t>
            </a:r>
            <a:endParaRPr sz="32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4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0" name="Google Shape;530;p74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3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Step 2: Go to Settings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On the repo page, look at the top menu: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 | Issues | Pull Requests | Actions | … | Settings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Settings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(⚙️)</a:t>
            </a:r>
            <a:endParaRPr sz="3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36" name="Google Shape;536;p75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3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Step 3: Go to "Collaborators"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On the left sidebar: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Scroll to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Access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Collaborators &amp; teams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latin typeface="Arial"/>
                <a:ea typeface="Arial"/>
                <a:cs typeface="Arial"/>
                <a:sym typeface="Arial"/>
              </a:rPr>
              <a:t> OR sometimes named: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Collaborators</a:t>
            </a:r>
            <a:endParaRPr sz="3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2" name="Google Shape;542;p76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Step 4: Add Collaborator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You will see a section called: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"Manage access"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Click: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➡️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Add people</a:t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7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48" name="Google Shape;548;p77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34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Step 5: Enter their GitHub username or email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Type the GitHub username of the person you want to add.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lang="en" sz="1900"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.</a:t>
            </a:r>
            <a:endParaRPr sz="34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8"/>
          <p:cNvSpPr txBox="1"/>
          <p:nvPr>
            <p:ph type="ctrTitle"/>
          </p:nvPr>
        </p:nvSpPr>
        <p:spPr>
          <a:xfrm>
            <a:off x="1597772" y="319023"/>
            <a:ext cx="6639600" cy="660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to Add Someone as a Collaborator (GitHub)</a:t>
            </a:r>
            <a:endParaRPr sz="23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4" name="Google Shape;554;p78"/>
          <p:cNvSpPr txBox="1"/>
          <p:nvPr>
            <p:ph idx="1" type="subTitle"/>
          </p:nvPr>
        </p:nvSpPr>
        <p:spPr>
          <a:xfrm>
            <a:off x="1217175" y="1080900"/>
            <a:ext cx="7156800" cy="3360000"/>
          </a:xfrm>
          <a:prstGeom prst="rect">
            <a:avLst/>
          </a:prstGeom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Command:</a:t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Step 6: They must accept the invitation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GitHub will send an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invitation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They must: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Open their email OR notification on GitHub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Click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Accept invite</a:t>
            </a:r>
            <a:br>
              <a:rPr b="1" lang="en" sz="1300">
                <a:latin typeface="Arial"/>
                <a:ea typeface="Arial"/>
                <a:cs typeface="Arial"/>
                <a:sym typeface="Arial"/>
              </a:rPr>
            </a:b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After accepting, they become a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collaborator with write access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9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60" name="Google Shape;560;p79"/>
          <p:cNvSpPr txBox="1"/>
          <p:nvPr>
            <p:ph idx="1" type="body"/>
          </p:nvPr>
        </p:nvSpPr>
        <p:spPr>
          <a:xfrm>
            <a:off x="567023" y="4500400"/>
            <a:ext cx="14250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 Technology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